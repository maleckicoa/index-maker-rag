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beee613b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beee613b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beee613b2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beee613b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620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Fetch historical data for many stocks from the FMP API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Store this data locally in a traditional relational database (in prod we can use Postgres)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Clean and enrich the data (here we can maybe using Airflow, but I don’t think it is necessary)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Push this data into a Graph Database (Neo4j - for local database or Neo4jAura - for Cloud database)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Data flows from Graph database via Agent to the User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GB"/>
              <a:t>User makes prompts to the Agent/Chatbot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GB"/>
              <a:t>Agent generates answers using data from the Graph Database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GB"/>
              <a:t>Agent then returns answers to the User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NOTES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Frontend will be a chatbot (or whatever) </a:t>
            </a:r>
            <a:r>
              <a:rPr lang="en-GB"/>
              <a:t>likely written in Next.js and Typescript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Backend code is 100% Python (including the AI frameworks like Langchain, Huggingface, etc.)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Databases: Postgres and Graph Database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62313" y="2346588"/>
            <a:ext cx="9498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Streamlit UI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Port 8501</a:t>
            </a:r>
            <a:endParaRPr sz="900"/>
          </a:p>
        </p:txBody>
      </p:sp>
      <p:sp>
        <p:nvSpPr>
          <p:cNvPr id="60" name="Google Shape;60;p14"/>
          <p:cNvSpPr/>
          <p:nvPr/>
        </p:nvSpPr>
        <p:spPr>
          <a:xfrm>
            <a:off x="2654275" y="2317788"/>
            <a:ext cx="1028400" cy="58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Langchain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Agent Executor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(LLM)</a:t>
            </a:r>
            <a:endParaRPr sz="900"/>
          </a:p>
        </p:txBody>
      </p:sp>
      <p:cxnSp>
        <p:nvCxnSpPr>
          <p:cNvPr id="61" name="Google Shape;61;p14"/>
          <p:cNvCxnSpPr>
            <a:stCxn id="62" idx="3"/>
            <a:endCxn id="60" idx="1"/>
          </p:cNvCxnSpPr>
          <p:nvPr/>
        </p:nvCxnSpPr>
        <p:spPr>
          <a:xfrm>
            <a:off x="2308975" y="2611638"/>
            <a:ext cx="34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14"/>
          <p:cNvSpPr/>
          <p:nvPr/>
        </p:nvSpPr>
        <p:spPr>
          <a:xfrm>
            <a:off x="4290288" y="1218750"/>
            <a:ext cx="1403100" cy="58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Graph Tool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Langchain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GraphCypherQAChain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(LLM)</a:t>
            </a:r>
            <a:endParaRPr sz="900"/>
          </a:p>
        </p:txBody>
      </p:sp>
      <p:sp>
        <p:nvSpPr>
          <p:cNvPr id="64" name="Google Shape;64;p14"/>
          <p:cNvSpPr/>
          <p:nvPr/>
        </p:nvSpPr>
        <p:spPr>
          <a:xfrm>
            <a:off x="4290300" y="3743100"/>
            <a:ext cx="14031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Make Index Tool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(LLM)</a:t>
            </a:r>
            <a:endParaRPr sz="900"/>
          </a:p>
        </p:txBody>
      </p:sp>
      <p:cxnSp>
        <p:nvCxnSpPr>
          <p:cNvPr id="65" name="Google Shape;65;p14"/>
          <p:cNvCxnSpPr>
            <a:stCxn id="60" idx="2"/>
            <a:endCxn id="66" idx="0"/>
          </p:cNvCxnSpPr>
          <p:nvPr/>
        </p:nvCxnSpPr>
        <p:spPr>
          <a:xfrm>
            <a:off x="3168475" y="2905488"/>
            <a:ext cx="0" cy="163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>
            <a:stCxn id="60" idx="3"/>
            <a:endCxn id="63" idx="1"/>
          </p:cNvCxnSpPr>
          <p:nvPr/>
        </p:nvCxnSpPr>
        <p:spPr>
          <a:xfrm flipH="1" rot="10800000">
            <a:off x="3682675" y="1512738"/>
            <a:ext cx="607500" cy="10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stCxn id="60" idx="3"/>
            <a:endCxn id="69" idx="1"/>
          </p:cNvCxnSpPr>
          <p:nvPr/>
        </p:nvCxnSpPr>
        <p:spPr>
          <a:xfrm flipH="1" rot="10800000">
            <a:off x="3682675" y="2589738"/>
            <a:ext cx="6075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4"/>
          <p:cNvCxnSpPr>
            <a:stCxn id="60" idx="3"/>
            <a:endCxn id="64" idx="0"/>
          </p:cNvCxnSpPr>
          <p:nvPr/>
        </p:nvCxnSpPr>
        <p:spPr>
          <a:xfrm>
            <a:off x="3682675" y="2611638"/>
            <a:ext cx="1309200" cy="11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4"/>
          <p:cNvSpPr/>
          <p:nvPr/>
        </p:nvSpPr>
        <p:spPr>
          <a:xfrm>
            <a:off x="7200075" y="1747325"/>
            <a:ext cx="9804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Neo4j Aura Graph Database</a:t>
            </a:r>
            <a:endParaRPr sz="900"/>
          </a:p>
        </p:txBody>
      </p:sp>
      <p:cxnSp>
        <p:nvCxnSpPr>
          <p:cNvPr id="72" name="Google Shape;72;p14"/>
          <p:cNvCxnSpPr>
            <a:stCxn id="63" idx="3"/>
            <a:endCxn id="71" idx="1"/>
          </p:cNvCxnSpPr>
          <p:nvPr/>
        </p:nvCxnSpPr>
        <p:spPr>
          <a:xfrm>
            <a:off x="5693388" y="1512600"/>
            <a:ext cx="1506600" cy="48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4"/>
          <p:cNvSpPr/>
          <p:nvPr/>
        </p:nvSpPr>
        <p:spPr>
          <a:xfrm>
            <a:off x="7496775" y="3689025"/>
            <a:ext cx="1446900" cy="61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Backtesting </a:t>
            </a:r>
            <a:r>
              <a:rPr lang="en-GB" sz="900">
                <a:solidFill>
                  <a:schemeClr val="dk1"/>
                </a:solidFill>
              </a:rPr>
              <a:t>Function for calculating historical index performance</a:t>
            </a:r>
            <a:endParaRPr sz="900"/>
          </a:p>
        </p:txBody>
      </p:sp>
      <p:cxnSp>
        <p:nvCxnSpPr>
          <p:cNvPr id="74" name="Google Shape;74;p14"/>
          <p:cNvCxnSpPr>
            <a:stCxn id="64" idx="3"/>
            <a:endCxn id="73" idx="1"/>
          </p:cNvCxnSpPr>
          <p:nvPr/>
        </p:nvCxnSpPr>
        <p:spPr>
          <a:xfrm>
            <a:off x="5693400" y="3997050"/>
            <a:ext cx="180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4"/>
          <p:cNvSpPr/>
          <p:nvPr/>
        </p:nvSpPr>
        <p:spPr>
          <a:xfrm>
            <a:off x="2678263" y="4540188"/>
            <a:ext cx="9804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No Tool</a:t>
            </a:r>
            <a:endParaRPr sz="900"/>
          </a:p>
        </p:txBody>
      </p:sp>
      <p:cxnSp>
        <p:nvCxnSpPr>
          <p:cNvPr id="75" name="Google Shape;75;p14"/>
          <p:cNvCxnSpPr>
            <a:stCxn id="73" idx="1"/>
            <a:endCxn id="64" idx="3"/>
          </p:cNvCxnSpPr>
          <p:nvPr/>
        </p:nvCxnSpPr>
        <p:spPr>
          <a:xfrm rot="10800000">
            <a:off x="5693475" y="3996975"/>
            <a:ext cx="180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4"/>
          <p:cNvCxnSpPr>
            <a:stCxn id="60" idx="1"/>
            <a:endCxn id="59" idx="3"/>
          </p:cNvCxnSpPr>
          <p:nvPr/>
        </p:nvCxnSpPr>
        <p:spPr>
          <a:xfrm rot="10800000">
            <a:off x="1012075" y="2600538"/>
            <a:ext cx="16422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4"/>
          <p:cNvSpPr/>
          <p:nvPr/>
        </p:nvSpPr>
        <p:spPr>
          <a:xfrm>
            <a:off x="8241063" y="122688"/>
            <a:ext cx="702600" cy="382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FMP DATA</a:t>
            </a:r>
            <a:endParaRPr sz="900"/>
          </a:p>
        </p:txBody>
      </p:sp>
      <p:cxnSp>
        <p:nvCxnSpPr>
          <p:cNvPr id="78" name="Google Shape;78;p14"/>
          <p:cNvCxnSpPr>
            <a:stCxn id="77" idx="2"/>
            <a:endCxn id="79" idx="0"/>
          </p:cNvCxnSpPr>
          <p:nvPr/>
        </p:nvCxnSpPr>
        <p:spPr>
          <a:xfrm>
            <a:off x="8592363" y="505488"/>
            <a:ext cx="10200" cy="20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4"/>
          <p:cNvSpPr/>
          <p:nvPr/>
        </p:nvSpPr>
        <p:spPr>
          <a:xfrm>
            <a:off x="0" y="866225"/>
            <a:ext cx="1276200" cy="1389000"/>
          </a:xfrm>
          <a:prstGeom prst="downArrowCallout">
            <a:avLst>
              <a:gd fmla="val 25415" name="adj1"/>
              <a:gd fmla="val 24565" name="adj2"/>
              <a:gd fmla="val 22572" name="adj3"/>
              <a:gd fmla="val 68536" name="adj4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Prompt 1: Suggest 10 companies with high return…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Prompt 2: Special: Suggest 10 companies in a specific field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Prompt 3: Make Index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</a:rPr>
              <a:t>Prompt 4: Hello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754375" y="277000"/>
            <a:ext cx="184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82" name="Google Shape;82;p14"/>
          <p:cNvCxnSpPr>
            <a:stCxn id="79" idx="2"/>
            <a:endCxn id="73" idx="0"/>
          </p:cNvCxnSpPr>
          <p:nvPr/>
        </p:nvCxnSpPr>
        <p:spPr>
          <a:xfrm flipH="1">
            <a:off x="8220350" y="3214900"/>
            <a:ext cx="382200" cy="4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4"/>
          <p:cNvCxnSpPr>
            <a:stCxn id="84" idx="0"/>
            <a:endCxn id="59" idx="2"/>
          </p:cNvCxnSpPr>
          <p:nvPr/>
        </p:nvCxnSpPr>
        <p:spPr>
          <a:xfrm rot="10800000">
            <a:off x="537200" y="2854475"/>
            <a:ext cx="0" cy="15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4"/>
          <p:cNvSpPr/>
          <p:nvPr/>
        </p:nvSpPr>
        <p:spPr>
          <a:xfrm>
            <a:off x="2466925" y="1426425"/>
            <a:ext cx="1403100" cy="836700"/>
          </a:xfrm>
          <a:prstGeom prst="downArrowCallout">
            <a:avLst>
              <a:gd fmla="val 25000" name="adj1"/>
              <a:gd fmla="val 25000" name="adj2"/>
              <a:gd fmla="val 22301" name="adj3"/>
              <a:gd fmla="val 64977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Agent Executor is given: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- S</a:t>
            </a:r>
            <a:r>
              <a:rPr lang="en-GB" sz="700"/>
              <a:t>et of instructions what to do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- Access to LLM (</a:t>
            </a:r>
            <a:r>
              <a:rPr b="1" lang="en-GB" sz="700"/>
              <a:t>GPT4o/mini)</a:t>
            </a:r>
            <a:endParaRPr b="1" sz="700"/>
          </a:p>
        </p:txBody>
      </p:sp>
      <p:cxnSp>
        <p:nvCxnSpPr>
          <p:cNvPr id="86" name="Google Shape;86;p14"/>
          <p:cNvCxnSpPr>
            <a:stCxn id="71" idx="1"/>
            <a:endCxn id="69" idx="3"/>
          </p:cNvCxnSpPr>
          <p:nvPr/>
        </p:nvCxnSpPr>
        <p:spPr>
          <a:xfrm flipH="1">
            <a:off x="5693475" y="2001275"/>
            <a:ext cx="1506600" cy="5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4"/>
          <p:cNvCxnSpPr>
            <a:stCxn id="71" idx="1"/>
            <a:endCxn id="63" idx="3"/>
          </p:cNvCxnSpPr>
          <p:nvPr/>
        </p:nvCxnSpPr>
        <p:spPr>
          <a:xfrm rot="10800000">
            <a:off x="5693475" y="1512575"/>
            <a:ext cx="1506600" cy="48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4"/>
          <p:cNvCxnSpPr>
            <a:stCxn id="66" idx="0"/>
            <a:endCxn id="60" idx="2"/>
          </p:cNvCxnSpPr>
          <p:nvPr/>
        </p:nvCxnSpPr>
        <p:spPr>
          <a:xfrm rot="10800000">
            <a:off x="3168463" y="2905488"/>
            <a:ext cx="0" cy="163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4"/>
          <p:cNvSpPr/>
          <p:nvPr/>
        </p:nvSpPr>
        <p:spPr>
          <a:xfrm>
            <a:off x="2008125" y="3663300"/>
            <a:ext cx="1028400" cy="587700"/>
          </a:xfrm>
          <a:prstGeom prst="rightArrowCallout">
            <a:avLst>
              <a:gd fmla="val 17934" name="adj1"/>
              <a:gd fmla="val 24094" name="adj2"/>
              <a:gd fmla="val 25489" name="adj3"/>
              <a:gd fmla="val 77329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Maintain Conversation</a:t>
            </a:r>
            <a:endParaRPr sz="700"/>
          </a:p>
        </p:txBody>
      </p:sp>
      <p:cxnSp>
        <p:nvCxnSpPr>
          <p:cNvPr id="90" name="Google Shape;90;p14"/>
          <p:cNvCxnSpPr>
            <a:stCxn id="69" idx="1"/>
            <a:endCxn id="60" idx="3"/>
          </p:cNvCxnSpPr>
          <p:nvPr/>
        </p:nvCxnSpPr>
        <p:spPr>
          <a:xfrm flipH="1">
            <a:off x="3682800" y="2589600"/>
            <a:ext cx="6075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4"/>
          <p:cNvCxnSpPr>
            <a:stCxn id="64" idx="0"/>
            <a:endCxn id="60" idx="3"/>
          </p:cNvCxnSpPr>
          <p:nvPr/>
        </p:nvCxnSpPr>
        <p:spPr>
          <a:xfrm rot="10800000">
            <a:off x="3682650" y="2611500"/>
            <a:ext cx="1309200" cy="11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4"/>
          <p:cNvCxnSpPr>
            <a:stCxn id="63" idx="1"/>
            <a:endCxn id="60" idx="3"/>
          </p:cNvCxnSpPr>
          <p:nvPr/>
        </p:nvCxnSpPr>
        <p:spPr>
          <a:xfrm flipH="1">
            <a:off x="3682788" y="1512600"/>
            <a:ext cx="607500" cy="10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4"/>
          <p:cNvSpPr/>
          <p:nvPr/>
        </p:nvSpPr>
        <p:spPr>
          <a:xfrm>
            <a:off x="4290300" y="2295750"/>
            <a:ext cx="1403100" cy="58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Special Tool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Langchain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RetrievalQA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(LLM)</a:t>
            </a:r>
            <a:endParaRPr sz="900"/>
          </a:p>
        </p:txBody>
      </p:sp>
      <p:sp>
        <p:nvSpPr>
          <p:cNvPr id="93" name="Google Shape;93;p14"/>
          <p:cNvSpPr/>
          <p:nvPr/>
        </p:nvSpPr>
        <p:spPr>
          <a:xfrm>
            <a:off x="4232650" y="285300"/>
            <a:ext cx="1403100" cy="836700"/>
          </a:xfrm>
          <a:prstGeom prst="downArrowCallout">
            <a:avLst>
              <a:gd fmla="val 25000" name="adj1"/>
              <a:gd fmla="val 25000" name="adj2"/>
              <a:gd fmla="val 22301" name="adj3"/>
              <a:gd fmla="val 64977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Each Tool</a:t>
            </a:r>
            <a:r>
              <a:rPr lang="en-GB" sz="700"/>
              <a:t> is given: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- Set of instructions what to do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- Access to LLM (</a:t>
            </a:r>
            <a:r>
              <a:rPr b="1" lang="en-GB" sz="700"/>
              <a:t>GPT4o/mini)</a:t>
            </a:r>
            <a:endParaRPr b="1" sz="700"/>
          </a:p>
        </p:txBody>
      </p:sp>
      <p:sp>
        <p:nvSpPr>
          <p:cNvPr id="94" name="Google Shape;94;p14"/>
          <p:cNvSpPr/>
          <p:nvPr/>
        </p:nvSpPr>
        <p:spPr>
          <a:xfrm>
            <a:off x="5953888" y="3594525"/>
            <a:ext cx="1227600" cy="58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List of Tickers </a:t>
            </a:r>
            <a:r>
              <a:rPr lang="en-GB" sz="1200"/>
              <a:t>→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← </a:t>
            </a:r>
            <a:r>
              <a:rPr lang="en-GB" sz="700">
                <a:solidFill>
                  <a:schemeClr val="dk1"/>
                </a:solidFill>
              </a:rPr>
              <a:t>Prices and Mcaps 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chemeClr val="dk1"/>
                </a:solidFill>
              </a:rPr>
              <a:t>        for each ticker</a:t>
            </a:r>
            <a:endParaRPr sz="700"/>
          </a:p>
        </p:txBody>
      </p:sp>
      <p:sp>
        <p:nvSpPr>
          <p:cNvPr id="95" name="Google Shape;95;p14"/>
          <p:cNvSpPr/>
          <p:nvPr/>
        </p:nvSpPr>
        <p:spPr>
          <a:xfrm>
            <a:off x="7804875" y="974025"/>
            <a:ext cx="1028400" cy="22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Data Transformation</a:t>
            </a:r>
            <a:endParaRPr sz="700"/>
          </a:p>
        </p:txBody>
      </p:sp>
      <p:sp>
        <p:nvSpPr>
          <p:cNvPr id="79" name="Google Shape;79;p14"/>
          <p:cNvSpPr/>
          <p:nvPr/>
        </p:nvSpPr>
        <p:spPr>
          <a:xfrm>
            <a:off x="8127650" y="2519800"/>
            <a:ext cx="949800" cy="695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Stock Info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Stock Prices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Stock Mcaps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 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(Relational Data</a:t>
            </a:r>
            <a:r>
              <a:rPr lang="en-GB" sz="700">
                <a:solidFill>
                  <a:schemeClr val="dk1"/>
                </a:solidFill>
              </a:rPr>
              <a:t>base)</a:t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96" name="Google Shape;96;p14"/>
          <p:cNvCxnSpPr>
            <a:stCxn id="79" idx="0"/>
            <a:endCxn id="71" idx="3"/>
          </p:cNvCxnSpPr>
          <p:nvPr/>
        </p:nvCxnSpPr>
        <p:spPr>
          <a:xfrm rot="10800000">
            <a:off x="8180450" y="2001400"/>
            <a:ext cx="422100" cy="5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4"/>
          <p:cNvSpPr/>
          <p:nvPr/>
        </p:nvSpPr>
        <p:spPr>
          <a:xfrm rot="-2964">
            <a:off x="5953892" y="1274487"/>
            <a:ext cx="1044000" cy="45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Cypher Query </a:t>
            </a:r>
            <a:r>
              <a:rPr lang="en-GB" sz="1200"/>
              <a:t>→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← </a:t>
            </a:r>
            <a:r>
              <a:rPr lang="en-GB" sz="700">
                <a:solidFill>
                  <a:schemeClr val="dk1"/>
                </a:solidFill>
              </a:rPr>
              <a:t>List of Tickers</a:t>
            </a:r>
            <a:endParaRPr sz="700"/>
          </a:p>
        </p:txBody>
      </p:sp>
      <p:sp>
        <p:nvSpPr>
          <p:cNvPr id="98" name="Google Shape;98;p14"/>
          <p:cNvSpPr/>
          <p:nvPr/>
        </p:nvSpPr>
        <p:spPr>
          <a:xfrm rot="-718">
            <a:off x="5953912" y="2372698"/>
            <a:ext cx="1437300" cy="45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 User Query (embedded) </a:t>
            </a:r>
            <a:r>
              <a:rPr lang="en-GB" sz="1200"/>
              <a:t>→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← </a:t>
            </a:r>
            <a:r>
              <a:rPr lang="en-GB" sz="700">
                <a:solidFill>
                  <a:schemeClr val="dk1"/>
                </a:solidFill>
              </a:rPr>
              <a:t>List of Tickers</a:t>
            </a:r>
            <a:endParaRPr sz="700"/>
          </a:p>
        </p:txBody>
      </p:sp>
      <p:sp>
        <p:nvSpPr>
          <p:cNvPr id="99" name="Google Shape;99;p14"/>
          <p:cNvSpPr/>
          <p:nvPr/>
        </p:nvSpPr>
        <p:spPr>
          <a:xfrm>
            <a:off x="1271888" y="2176600"/>
            <a:ext cx="1122600" cy="103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User Query  </a:t>
            </a:r>
            <a:r>
              <a:rPr lang="en-GB" sz="1200">
                <a:solidFill>
                  <a:schemeClr val="dk1"/>
                </a:solidFill>
              </a:rPr>
              <a:t>→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← </a:t>
            </a:r>
            <a:r>
              <a:rPr lang="en-GB" sz="700">
                <a:solidFill>
                  <a:schemeClr val="dk1"/>
                </a:solidFill>
              </a:rPr>
              <a:t>List of Tickers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(Communication 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chemeClr val="dk1"/>
                </a:solidFill>
              </a:rPr>
              <a:t>via port 800/index-rag-agent)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62300" y="4401875"/>
            <a:ext cx="949800" cy="695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Stock Info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Stock Prices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Stock Mcaps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 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(Relational Database)</a:t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100" name="Google Shape;100;p14"/>
          <p:cNvCxnSpPr>
            <a:stCxn id="59" idx="2"/>
            <a:endCxn id="84" idx="0"/>
          </p:cNvCxnSpPr>
          <p:nvPr/>
        </p:nvCxnSpPr>
        <p:spPr>
          <a:xfrm>
            <a:off x="537213" y="2854488"/>
            <a:ext cx="0" cy="15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4"/>
          <p:cNvSpPr/>
          <p:nvPr/>
        </p:nvSpPr>
        <p:spPr>
          <a:xfrm rot="-5403849">
            <a:off x="52815" y="3481283"/>
            <a:ext cx="1071901" cy="33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Complete Data</a:t>
            </a:r>
            <a:r>
              <a:rPr lang="en-GB" sz="700"/>
              <a:t> </a:t>
            </a:r>
            <a:r>
              <a:rPr lang="en-GB" sz="1200"/>
              <a:t>→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← </a:t>
            </a:r>
            <a:r>
              <a:rPr lang="en-GB" sz="700">
                <a:solidFill>
                  <a:schemeClr val="dk1"/>
                </a:solidFill>
              </a:rPr>
              <a:t>List of Tickers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8135213" y="2317788"/>
            <a:ext cx="9804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Neo4j Aura Graph Database</a:t>
            </a:r>
            <a:endParaRPr sz="900"/>
          </a:p>
        </p:txBody>
      </p:sp>
      <p:sp>
        <p:nvSpPr>
          <p:cNvPr id="107" name="Google Shape;107;p15"/>
          <p:cNvSpPr/>
          <p:nvPr/>
        </p:nvSpPr>
        <p:spPr>
          <a:xfrm>
            <a:off x="62288" y="2313588"/>
            <a:ext cx="9498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Streamlit UI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Port 8501</a:t>
            </a:r>
            <a:endParaRPr sz="900"/>
          </a:p>
        </p:txBody>
      </p:sp>
      <p:sp>
        <p:nvSpPr>
          <p:cNvPr id="108" name="Google Shape;108;p15"/>
          <p:cNvSpPr/>
          <p:nvPr/>
        </p:nvSpPr>
        <p:spPr>
          <a:xfrm>
            <a:off x="1418075" y="2317788"/>
            <a:ext cx="9498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Port 800/index-rag-agent</a:t>
            </a:r>
            <a:endParaRPr sz="900"/>
          </a:p>
        </p:txBody>
      </p:sp>
      <p:cxnSp>
        <p:nvCxnSpPr>
          <p:cNvPr id="109" name="Google Shape;109;p15"/>
          <p:cNvCxnSpPr>
            <a:stCxn id="107" idx="3"/>
            <a:endCxn id="108" idx="1"/>
          </p:cNvCxnSpPr>
          <p:nvPr/>
        </p:nvCxnSpPr>
        <p:spPr>
          <a:xfrm>
            <a:off x="1012088" y="2567538"/>
            <a:ext cx="4059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5"/>
          <p:cNvSpPr/>
          <p:nvPr/>
        </p:nvSpPr>
        <p:spPr>
          <a:xfrm>
            <a:off x="2713263" y="2317788"/>
            <a:ext cx="11016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Langchain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Agent Executor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(LLM)</a:t>
            </a:r>
            <a:endParaRPr sz="900"/>
          </a:p>
        </p:txBody>
      </p:sp>
      <p:cxnSp>
        <p:nvCxnSpPr>
          <p:cNvPr id="111" name="Google Shape;111;p15"/>
          <p:cNvCxnSpPr>
            <a:stCxn id="108" idx="3"/>
            <a:endCxn id="110" idx="1"/>
          </p:cNvCxnSpPr>
          <p:nvPr/>
        </p:nvCxnSpPr>
        <p:spPr>
          <a:xfrm>
            <a:off x="2367875" y="2571738"/>
            <a:ext cx="34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5"/>
          <p:cNvSpPr/>
          <p:nvPr/>
        </p:nvSpPr>
        <p:spPr>
          <a:xfrm>
            <a:off x="4245150" y="1236325"/>
            <a:ext cx="1446900" cy="58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Graph Tool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Langchain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GraphCypherQAChain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(LLM)</a:t>
            </a:r>
            <a:endParaRPr sz="900"/>
          </a:p>
        </p:txBody>
      </p:sp>
      <p:sp>
        <p:nvSpPr>
          <p:cNvPr id="113" name="Google Shape;113;p15"/>
          <p:cNvSpPr/>
          <p:nvPr/>
        </p:nvSpPr>
        <p:spPr>
          <a:xfrm>
            <a:off x="4165500" y="3808400"/>
            <a:ext cx="14469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Make Index Tool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(LLM)</a:t>
            </a:r>
            <a:endParaRPr sz="900"/>
          </a:p>
        </p:txBody>
      </p:sp>
      <p:cxnSp>
        <p:nvCxnSpPr>
          <p:cNvPr id="114" name="Google Shape;114;p15"/>
          <p:cNvCxnSpPr>
            <a:stCxn id="110" idx="2"/>
            <a:endCxn id="115" idx="0"/>
          </p:cNvCxnSpPr>
          <p:nvPr/>
        </p:nvCxnSpPr>
        <p:spPr>
          <a:xfrm>
            <a:off x="3264063" y="2825688"/>
            <a:ext cx="0" cy="9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5"/>
          <p:cNvCxnSpPr>
            <a:stCxn id="110" idx="3"/>
            <a:endCxn id="112" idx="1"/>
          </p:cNvCxnSpPr>
          <p:nvPr/>
        </p:nvCxnSpPr>
        <p:spPr>
          <a:xfrm flipH="1" rot="10800000">
            <a:off x="3814863" y="1530138"/>
            <a:ext cx="430200" cy="104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5"/>
          <p:cNvCxnSpPr>
            <a:stCxn id="110" idx="3"/>
            <a:endCxn id="118" idx="1"/>
          </p:cNvCxnSpPr>
          <p:nvPr/>
        </p:nvCxnSpPr>
        <p:spPr>
          <a:xfrm flipH="1" rot="10800000">
            <a:off x="3814863" y="2567538"/>
            <a:ext cx="4305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5"/>
          <p:cNvCxnSpPr>
            <a:stCxn id="110" idx="3"/>
            <a:endCxn id="113" idx="0"/>
          </p:cNvCxnSpPr>
          <p:nvPr/>
        </p:nvCxnSpPr>
        <p:spPr>
          <a:xfrm>
            <a:off x="3814863" y="2571738"/>
            <a:ext cx="1074000" cy="123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5"/>
          <p:cNvSpPr/>
          <p:nvPr/>
        </p:nvSpPr>
        <p:spPr>
          <a:xfrm>
            <a:off x="8101313" y="728425"/>
            <a:ext cx="9804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Neo4j Aura Graph Database</a:t>
            </a:r>
            <a:endParaRPr sz="900"/>
          </a:p>
        </p:txBody>
      </p:sp>
      <p:cxnSp>
        <p:nvCxnSpPr>
          <p:cNvPr id="121" name="Google Shape;121;p15"/>
          <p:cNvCxnSpPr>
            <a:stCxn id="112" idx="3"/>
            <a:endCxn id="120" idx="1"/>
          </p:cNvCxnSpPr>
          <p:nvPr/>
        </p:nvCxnSpPr>
        <p:spPr>
          <a:xfrm flipH="1" rot="10800000">
            <a:off x="5692050" y="982375"/>
            <a:ext cx="2409300" cy="5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5"/>
          <p:cNvSpPr/>
          <p:nvPr/>
        </p:nvSpPr>
        <p:spPr>
          <a:xfrm>
            <a:off x="8101313" y="3808388"/>
            <a:ext cx="9804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 Backtesting Function</a:t>
            </a:r>
            <a:endParaRPr sz="900"/>
          </a:p>
        </p:txBody>
      </p:sp>
      <p:cxnSp>
        <p:nvCxnSpPr>
          <p:cNvPr id="123" name="Google Shape;123;p15"/>
          <p:cNvCxnSpPr>
            <a:stCxn id="118" idx="3"/>
            <a:endCxn id="106" idx="1"/>
          </p:cNvCxnSpPr>
          <p:nvPr/>
        </p:nvCxnSpPr>
        <p:spPr>
          <a:xfrm>
            <a:off x="5692125" y="2567550"/>
            <a:ext cx="24432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5"/>
          <p:cNvCxnSpPr>
            <a:stCxn id="113" idx="3"/>
            <a:endCxn id="122" idx="1"/>
          </p:cNvCxnSpPr>
          <p:nvPr/>
        </p:nvCxnSpPr>
        <p:spPr>
          <a:xfrm>
            <a:off x="5612400" y="4062350"/>
            <a:ext cx="24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5"/>
          <p:cNvSpPr/>
          <p:nvPr/>
        </p:nvSpPr>
        <p:spPr>
          <a:xfrm>
            <a:off x="2773863" y="3808388"/>
            <a:ext cx="980400" cy="50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No Tool</a:t>
            </a:r>
            <a:endParaRPr sz="900"/>
          </a:p>
        </p:txBody>
      </p:sp>
      <p:cxnSp>
        <p:nvCxnSpPr>
          <p:cNvPr id="125" name="Google Shape;125;p15"/>
          <p:cNvCxnSpPr>
            <a:stCxn id="122" idx="1"/>
            <a:endCxn id="113" idx="3"/>
          </p:cNvCxnSpPr>
          <p:nvPr/>
        </p:nvCxnSpPr>
        <p:spPr>
          <a:xfrm rot="10800000">
            <a:off x="5612513" y="4062338"/>
            <a:ext cx="24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5"/>
          <p:cNvCxnSpPr>
            <a:stCxn id="110" idx="1"/>
            <a:endCxn id="108" idx="3"/>
          </p:cNvCxnSpPr>
          <p:nvPr/>
        </p:nvCxnSpPr>
        <p:spPr>
          <a:xfrm rot="10800000">
            <a:off x="2367963" y="2571738"/>
            <a:ext cx="34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5"/>
          <p:cNvCxnSpPr>
            <a:stCxn id="108" idx="1"/>
            <a:endCxn id="107" idx="3"/>
          </p:cNvCxnSpPr>
          <p:nvPr/>
        </p:nvCxnSpPr>
        <p:spPr>
          <a:xfrm rot="10800000">
            <a:off x="1012175" y="2567538"/>
            <a:ext cx="4059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5"/>
          <p:cNvSpPr/>
          <p:nvPr/>
        </p:nvSpPr>
        <p:spPr>
          <a:xfrm>
            <a:off x="8240213" y="145688"/>
            <a:ext cx="702600" cy="382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FMP DATA</a:t>
            </a:r>
            <a:endParaRPr sz="900"/>
          </a:p>
        </p:txBody>
      </p:sp>
      <p:cxnSp>
        <p:nvCxnSpPr>
          <p:cNvPr id="129" name="Google Shape;129;p15"/>
          <p:cNvCxnSpPr>
            <a:stCxn id="128" idx="2"/>
            <a:endCxn id="120" idx="0"/>
          </p:cNvCxnSpPr>
          <p:nvPr/>
        </p:nvCxnSpPr>
        <p:spPr>
          <a:xfrm>
            <a:off x="8591513" y="528488"/>
            <a:ext cx="0" cy="1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0" name="Google Shape;13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462" y="436487"/>
            <a:ext cx="2284200" cy="45597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73013" y="1433563"/>
            <a:ext cx="2284200" cy="10059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1113" y="3812076"/>
            <a:ext cx="2391500" cy="1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37600" y="1506750"/>
            <a:ext cx="221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Prompt 1: Suggest 10 companies with high return…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Prompt 2: Special: Suggest 10 companies in a specific field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Prompt 3: Make Index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Prompt 4: Hello</a:t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134" name="Google Shape;134;p15"/>
          <p:cNvCxnSpPr>
            <a:stCxn id="135" idx="0"/>
            <a:endCxn id="122" idx="2"/>
          </p:cNvCxnSpPr>
          <p:nvPr/>
        </p:nvCxnSpPr>
        <p:spPr>
          <a:xfrm flipH="1" rot="10800000">
            <a:off x="8576300" y="4316150"/>
            <a:ext cx="15300" cy="24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5"/>
          <p:cNvSpPr/>
          <p:nvPr/>
        </p:nvSpPr>
        <p:spPr>
          <a:xfrm>
            <a:off x="8101400" y="4562750"/>
            <a:ext cx="949800" cy="34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 Prices &amp; Mcaps 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(Relational Database)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00888" y="3437313"/>
            <a:ext cx="811200" cy="305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 Stock Info (Relational Database)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339713" y="2139363"/>
            <a:ext cx="980400" cy="21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Embedded prompt</a:t>
            </a:r>
            <a:endParaRPr sz="900"/>
          </a:p>
        </p:txBody>
      </p:sp>
      <p:pic>
        <p:nvPicPr>
          <p:cNvPr id="138" name="Google Shape;13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9009" y="2390200"/>
            <a:ext cx="1609091" cy="14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39" name="Google Shape;139;p15"/>
          <p:cNvCxnSpPr>
            <a:stCxn id="136" idx="0"/>
            <a:endCxn id="107" idx="2"/>
          </p:cNvCxnSpPr>
          <p:nvPr/>
        </p:nvCxnSpPr>
        <p:spPr>
          <a:xfrm rot="10800000">
            <a:off x="537188" y="2821413"/>
            <a:ext cx="693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5"/>
          <p:cNvSpPr/>
          <p:nvPr/>
        </p:nvSpPr>
        <p:spPr>
          <a:xfrm>
            <a:off x="2599675" y="1433575"/>
            <a:ext cx="1403100" cy="836700"/>
          </a:xfrm>
          <a:prstGeom prst="downArrowCallout">
            <a:avLst>
              <a:gd fmla="val 25000" name="adj1"/>
              <a:gd fmla="val 25000" name="adj2"/>
              <a:gd fmla="val 22301" name="adj3"/>
              <a:gd fmla="val 64977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Agent is given: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- Set of instructions what to do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- Access to LLM (</a:t>
            </a:r>
            <a:r>
              <a:rPr b="1" lang="en-GB" sz="700"/>
              <a:t>GPT4o/mini)</a:t>
            </a:r>
            <a:endParaRPr b="1" sz="700"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2324" y="4156323"/>
            <a:ext cx="1609101" cy="6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9720" y="2674665"/>
            <a:ext cx="1101666" cy="382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5"/>
          <p:cNvCxnSpPr>
            <a:stCxn id="106" idx="1"/>
            <a:endCxn id="118" idx="3"/>
          </p:cNvCxnSpPr>
          <p:nvPr/>
        </p:nvCxnSpPr>
        <p:spPr>
          <a:xfrm rot="10800000">
            <a:off x="5692013" y="2567538"/>
            <a:ext cx="24432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5"/>
          <p:cNvCxnSpPr>
            <a:stCxn id="120" idx="1"/>
            <a:endCxn id="112" idx="3"/>
          </p:cNvCxnSpPr>
          <p:nvPr/>
        </p:nvCxnSpPr>
        <p:spPr>
          <a:xfrm flipH="1">
            <a:off x="5692013" y="982375"/>
            <a:ext cx="2409300" cy="5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9720" y="1050777"/>
            <a:ext cx="1101666" cy="382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/>
          <p:nvPr/>
        </p:nvSpPr>
        <p:spPr>
          <a:xfrm>
            <a:off x="8274113" y="1585650"/>
            <a:ext cx="702600" cy="382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FMP DATA</a:t>
            </a:r>
            <a:endParaRPr sz="900"/>
          </a:p>
        </p:txBody>
      </p:sp>
      <p:cxnSp>
        <p:nvCxnSpPr>
          <p:cNvPr id="147" name="Google Shape;147;p15"/>
          <p:cNvCxnSpPr>
            <a:stCxn id="146" idx="2"/>
            <a:endCxn id="106" idx="0"/>
          </p:cNvCxnSpPr>
          <p:nvPr/>
        </p:nvCxnSpPr>
        <p:spPr>
          <a:xfrm>
            <a:off x="8625413" y="1968450"/>
            <a:ext cx="0" cy="3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5"/>
          <p:cNvCxnSpPr>
            <a:stCxn id="115" idx="0"/>
            <a:endCxn id="110" idx="2"/>
          </p:cNvCxnSpPr>
          <p:nvPr/>
        </p:nvCxnSpPr>
        <p:spPr>
          <a:xfrm rot="10800000">
            <a:off x="3264063" y="2825588"/>
            <a:ext cx="0" cy="9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5"/>
          <p:cNvSpPr/>
          <p:nvPr/>
        </p:nvSpPr>
        <p:spPr>
          <a:xfrm>
            <a:off x="2166488" y="3023188"/>
            <a:ext cx="1028400" cy="587700"/>
          </a:xfrm>
          <a:prstGeom prst="rightArrowCallout">
            <a:avLst>
              <a:gd fmla="val 17934" name="adj1"/>
              <a:gd fmla="val 24094" name="adj2"/>
              <a:gd fmla="val 25489" name="adj3"/>
              <a:gd fmla="val 77329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Maintain Conversation</a:t>
            </a:r>
            <a:endParaRPr sz="700"/>
          </a:p>
        </p:txBody>
      </p:sp>
      <p:cxnSp>
        <p:nvCxnSpPr>
          <p:cNvPr id="150" name="Google Shape;150;p15"/>
          <p:cNvCxnSpPr>
            <a:stCxn id="118" idx="1"/>
            <a:endCxn id="110" idx="3"/>
          </p:cNvCxnSpPr>
          <p:nvPr/>
        </p:nvCxnSpPr>
        <p:spPr>
          <a:xfrm flipH="1">
            <a:off x="3814725" y="2567550"/>
            <a:ext cx="4305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5"/>
          <p:cNvCxnSpPr>
            <a:stCxn id="113" idx="0"/>
            <a:endCxn id="110" idx="3"/>
          </p:cNvCxnSpPr>
          <p:nvPr/>
        </p:nvCxnSpPr>
        <p:spPr>
          <a:xfrm rot="10800000">
            <a:off x="3814950" y="2571800"/>
            <a:ext cx="1074000" cy="123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5"/>
          <p:cNvCxnSpPr>
            <a:stCxn id="112" idx="1"/>
            <a:endCxn id="110" idx="3"/>
          </p:cNvCxnSpPr>
          <p:nvPr/>
        </p:nvCxnSpPr>
        <p:spPr>
          <a:xfrm flipH="1">
            <a:off x="3814950" y="1530175"/>
            <a:ext cx="430200" cy="104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5"/>
          <p:cNvSpPr/>
          <p:nvPr/>
        </p:nvSpPr>
        <p:spPr>
          <a:xfrm>
            <a:off x="4245225" y="2273700"/>
            <a:ext cx="1446900" cy="58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Special Tool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Langchain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RetrievalQA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(LLM)</a:t>
            </a:r>
            <a:endParaRPr sz="900"/>
          </a:p>
        </p:txBody>
      </p:sp>
      <p:sp>
        <p:nvSpPr>
          <p:cNvPr id="153" name="Google Shape;153;p15"/>
          <p:cNvSpPr/>
          <p:nvPr/>
        </p:nvSpPr>
        <p:spPr>
          <a:xfrm>
            <a:off x="4245075" y="277000"/>
            <a:ext cx="1403100" cy="836700"/>
          </a:xfrm>
          <a:prstGeom prst="downArrowCallout">
            <a:avLst>
              <a:gd fmla="val 25000" name="adj1"/>
              <a:gd fmla="val 25000" name="adj2"/>
              <a:gd fmla="val 22301" name="adj3"/>
              <a:gd fmla="val 64977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Every Tool</a:t>
            </a:r>
            <a:r>
              <a:rPr lang="en-GB" sz="700"/>
              <a:t> is given: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- Set of instructions what to do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- Access to LLM (</a:t>
            </a:r>
            <a:r>
              <a:rPr b="1" lang="en-GB" sz="700"/>
              <a:t>GPT4o/mini)</a:t>
            </a:r>
            <a:endParaRPr b="1"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